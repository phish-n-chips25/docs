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</p:sldIdLst>
  <p:sldSz cx="18288000" cy="10287000"/>
  <p:notesSz cx="6858000" cy="9144000"/>
  <p:embeddedFontLst>
    <p:embeddedFont>
      <p:font typeface="ITC Avant Garde Gothic" panose="020B0604020202020204" charset="0"/>
      <p:regular r:id="rId10"/>
    </p:embeddedFont>
    <p:embeddedFont>
      <p:font typeface="TT Fors" panose="020B0604020202020204" charset="0"/>
      <p:regular r:id="rId11"/>
    </p:embeddedFont>
    <p:embeddedFont>
      <p:font typeface="TT Fors Bold" panose="020B0604020202020204" charset="0"/>
      <p:regular r:id="rId12"/>
      <p:bold r:id="rId13"/>
    </p:embeddedFont>
    <p:embeddedFont>
      <p:font typeface="TT Fors Italics" panose="020B0604020202020204" charset="0"/>
      <p:regular r:id="rId14"/>
      <p:italic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589" autoAdjust="0"/>
  </p:normalViewPr>
  <p:slideViewPr>
    <p:cSldViewPr>
      <p:cViewPr varScale="1">
        <p:scale>
          <a:sx n="97" d="100"/>
          <a:sy n="97" d="100"/>
        </p:scale>
        <p:origin x="860" y="2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21-Jan-26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21-Jan-26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21-Jan-26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21-Jan-26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21-Jan-26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21-Jan-26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21-Jan-26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21-Jan-26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21-Jan-26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21-Jan-26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21-Jan-26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21-Jan-26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2.png"/><Relationship Id="rId7" Type="http://schemas.openxmlformats.org/officeDocument/2006/relationships/image" Target="../media/image11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868150" y="0"/>
            <a:ext cx="6419850" cy="10287000"/>
            <a:chOff x="0" y="0"/>
            <a:chExt cx="994603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94603" cy="1593725"/>
            </a:xfrm>
            <a:custGeom>
              <a:avLst/>
              <a:gdLst/>
              <a:ahLst/>
              <a:cxnLst/>
              <a:rect l="l" t="t" r="r" b="b"/>
              <a:pathLst>
                <a:path w="994603" h="1593725">
                  <a:moveTo>
                    <a:pt x="0" y="0"/>
                  </a:moveTo>
                  <a:lnTo>
                    <a:pt x="994603" y="0"/>
                  </a:lnTo>
                  <a:lnTo>
                    <a:pt x="99460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126" b="-126"/>
              </a:stretch>
            </a:blipFill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444829" y="7829550"/>
            <a:ext cx="4846643" cy="1791955"/>
            <a:chOff x="0" y="0"/>
            <a:chExt cx="6462190" cy="238927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6" name="Freeform 6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7" name="Freeform 7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8" name="Freeform 8"/>
          <p:cNvSpPr/>
          <p:nvPr/>
        </p:nvSpPr>
        <p:spPr>
          <a:xfrm>
            <a:off x="1028700" y="3431472"/>
            <a:ext cx="4691341" cy="4888871"/>
          </a:xfrm>
          <a:custGeom>
            <a:avLst/>
            <a:gdLst/>
            <a:ahLst/>
            <a:cxnLst/>
            <a:rect l="l" t="t" r="r" b="b"/>
            <a:pathLst>
              <a:path w="4691341" h="4888871">
                <a:moveTo>
                  <a:pt x="0" y="0"/>
                </a:moveTo>
                <a:lnTo>
                  <a:pt x="4691341" y="0"/>
                </a:lnTo>
                <a:lnTo>
                  <a:pt x="4691341" y="4888871"/>
                </a:lnTo>
                <a:lnTo>
                  <a:pt x="0" y="48888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4910" t="-8983" r="-8253" b="-9204"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9" name="Group 9"/>
          <p:cNvGrpSpPr/>
          <p:nvPr/>
        </p:nvGrpSpPr>
        <p:grpSpPr>
          <a:xfrm>
            <a:off x="666750" y="666750"/>
            <a:ext cx="9763125" cy="2416174"/>
            <a:chOff x="0" y="0"/>
            <a:chExt cx="13017500" cy="3221566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184275"/>
              <a:ext cx="13017500" cy="20372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99"/>
                </a:lnSpc>
              </a:pPr>
              <a:r>
                <a:rPr lang="en-US" sz="9999" spc="-299">
                  <a:solidFill>
                    <a:srgbClr val="21C7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Phish'N'Chips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04775"/>
              <a:ext cx="130175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1B9AAA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TEAM 10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66750" y="8668891"/>
            <a:ext cx="8328126" cy="13696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</a:pPr>
            <a:r>
              <a:rPr lang="en-US" sz="2600" dirty="0">
                <a:solidFill>
                  <a:srgbClr val="C5E9F6"/>
                </a:solidFill>
                <a:latin typeface="TT Fors"/>
                <a:ea typeface="TT Fors"/>
                <a:cs typeface="TT Fors"/>
                <a:sym typeface="TT Fors"/>
              </a:rPr>
              <a:t>Integrating EPSS-Based Vulnerability Risk Prediction with Genetic-Algorithm Scheduling for Enterprise Patch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657225"/>
            <a:ext cx="5762625" cy="1222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 spc="-240">
                <a:solidFill>
                  <a:srgbClr val="21C7E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The Problem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060367" y="2705100"/>
            <a:ext cx="10122608" cy="7318867"/>
            <a:chOff x="-4314710" y="-66675"/>
            <a:chExt cx="13496811" cy="9758490"/>
          </a:xfrm>
        </p:grpSpPr>
        <p:sp>
          <p:nvSpPr>
            <p:cNvPr id="4" name="TextBox 4"/>
            <p:cNvSpPr txBox="1"/>
            <p:nvPr/>
          </p:nvSpPr>
          <p:spPr>
            <a:xfrm>
              <a:off x="-4314710" y="2270125"/>
              <a:ext cx="13496811" cy="742169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u="none" strike="noStrike" dirty="0">
                  <a:solidFill>
                    <a:srgbClr val="C5E9F6"/>
                  </a:solidFill>
                  <a:latin typeface="TT Fors"/>
                  <a:ea typeface="TT Fors"/>
                  <a:cs typeface="TT Fors"/>
                  <a:sym typeface="TT Fors"/>
                </a:rPr>
                <a:t>Traditional approaches rely on:</a:t>
              </a:r>
            </a:p>
            <a:p>
              <a:pPr marL="342900" lvl="0" indent="-342900" algn="l">
                <a:lnSpc>
                  <a:spcPts val="294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sz="2100" u="none" strike="noStrike" dirty="0">
                  <a:solidFill>
                    <a:srgbClr val="C5E9F6"/>
                  </a:solidFill>
                  <a:latin typeface="TT Fors"/>
                  <a:ea typeface="TT Fors"/>
                  <a:cs typeface="TT Fors"/>
                  <a:sym typeface="TT Fors"/>
                </a:rPr>
                <a:t>Static severity scores such as CVSS</a:t>
              </a:r>
            </a:p>
            <a:p>
              <a:pPr marL="342900" lvl="0" indent="-342900" algn="l">
                <a:lnSpc>
                  <a:spcPts val="294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sz="2100" u="none" strike="noStrike" dirty="0">
                  <a:solidFill>
                    <a:srgbClr val="C5E9F6"/>
                  </a:solidFill>
                  <a:latin typeface="TT Fors"/>
                  <a:ea typeface="TT Fors"/>
                  <a:cs typeface="TT Fors"/>
                  <a:sym typeface="TT Fors"/>
                </a:rPr>
                <a:t>Manual prioritization by security teams</a:t>
              </a:r>
            </a:p>
            <a:p>
              <a:pPr marL="342900" lvl="0" indent="-342900" algn="l">
                <a:lnSpc>
                  <a:spcPts val="294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sz="2100" u="none" strike="noStrike" dirty="0">
                  <a:solidFill>
                    <a:srgbClr val="C5E9F6"/>
                  </a:solidFill>
                  <a:latin typeface="TT Fors"/>
                  <a:ea typeface="TT Fors"/>
                  <a:cs typeface="TT Fors"/>
                  <a:sym typeface="TT Fors"/>
                </a:rPr>
                <a:t>Heuristics that do not scale with system complexity</a:t>
              </a:r>
            </a:p>
            <a:p>
              <a:pPr marL="342900" lvl="0" indent="-342900" algn="l">
                <a:lnSpc>
                  <a:spcPts val="294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endParaRPr lang="en-US" sz="2100" u="none" strike="noStrike" dirty="0">
                <a:solidFill>
                  <a:srgbClr val="C5E9F6"/>
                </a:solidFill>
                <a:latin typeface="TT Fors"/>
                <a:ea typeface="TT Fors"/>
                <a:cs typeface="TT Fors"/>
                <a:sym typeface="TT Fors"/>
              </a:endParaRPr>
            </a:p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u="none" strike="noStrike" dirty="0">
                  <a:solidFill>
                    <a:srgbClr val="C5E9F6"/>
                  </a:solidFill>
                  <a:latin typeface="TT Fors"/>
                  <a:ea typeface="TT Fors"/>
                  <a:cs typeface="TT Fors"/>
                  <a:sym typeface="TT Fors"/>
                </a:rPr>
                <a:t>This leads to three major problems:</a:t>
              </a:r>
            </a:p>
            <a:p>
              <a:pPr marL="457200" lvl="0" indent="-457200" algn="l">
                <a:lnSpc>
                  <a:spcPts val="2940"/>
                </a:lnSpc>
                <a:spcBef>
                  <a:spcPct val="0"/>
                </a:spcBef>
                <a:buFont typeface="+mj-lt"/>
                <a:buAutoNum type="arabicPeriod"/>
              </a:pPr>
              <a:r>
                <a:rPr lang="en-US" sz="2100" b="1" u="none" strike="noStrike" dirty="0">
                  <a:solidFill>
                    <a:srgbClr val="C5E9F6"/>
                  </a:solidFill>
                  <a:latin typeface="TT Fors"/>
                  <a:ea typeface="TT Fors"/>
                  <a:cs typeface="TT Fors"/>
                  <a:sym typeface="TT Fors"/>
                </a:rPr>
                <a:t>Misallocation of resources</a:t>
              </a:r>
              <a:r>
                <a:rPr lang="en-US" sz="2100" u="none" strike="noStrike" dirty="0">
                  <a:solidFill>
                    <a:srgbClr val="C5E9F6"/>
                  </a:solidFill>
                  <a:latin typeface="TT Fors"/>
                  <a:ea typeface="TT Fors"/>
                  <a:cs typeface="TT Fors"/>
                  <a:sym typeface="TT Fors"/>
                </a:rPr>
                <a:t>, where low-risk patches consume time before high-risk ones</a:t>
              </a:r>
            </a:p>
            <a:p>
              <a:pPr marL="457200" lvl="0" indent="-457200" algn="l">
                <a:lnSpc>
                  <a:spcPts val="2940"/>
                </a:lnSpc>
                <a:spcBef>
                  <a:spcPct val="0"/>
                </a:spcBef>
                <a:buFont typeface="+mj-lt"/>
                <a:buAutoNum type="arabicPeriod"/>
              </a:pPr>
              <a:r>
                <a:rPr lang="en-US" sz="2100" b="1" u="none" strike="noStrike" dirty="0">
                  <a:solidFill>
                    <a:srgbClr val="C5E9F6"/>
                  </a:solidFill>
                  <a:latin typeface="TT Fors"/>
                  <a:ea typeface="TT Fors"/>
                  <a:cs typeface="TT Fors"/>
                  <a:sym typeface="TT Fors"/>
                </a:rPr>
                <a:t>Violation of operational constraints</a:t>
              </a:r>
              <a:r>
                <a:rPr lang="en-US" sz="2100" u="none" strike="noStrike" dirty="0">
                  <a:solidFill>
                    <a:srgbClr val="C5E9F6"/>
                  </a:solidFill>
                  <a:latin typeface="TT Fors"/>
                  <a:ea typeface="TT Fors"/>
                  <a:cs typeface="TT Fors"/>
                  <a:sym typeface="TT Fors"/>
                </a:rPr>
                <a:t>, such as maintenance windows, team availability, and environment dependencies</a:t>
              </a:r>
            </a:p>
            <a:p>
              <a:pPr marL="457200" lvl="0" indent="-457200" algn="l">
                <a:lnSpc>
                  <a:spcPts val="2940"/>
                </a:lnSpc>
                <a:spcBef>
                  <a:spcPct val="0"/>
                </a:spcBef>
                <a:buFont typeface="+mj-lt"/>
                <a:buAutoNum type="arabicPeriod"/>
              </a:pPr>
              <a:r>
                <a:rPr lang="en-US" sz="2100" b="1" u="none" strike="noStrike" dirty="0">
                  <a:solidFill>
                    <a:srgbClr val="C5E9F6"/>
                  </a:solidFill>
                  <a:latin typeface="TT Fors"/>
                  <a:ea typeface="TT Fors"/>
                  <a:cs typeface="TT Fors"/>
                  <a:sym typeface="TT Fors"/>
                </a:rPr>
                <a:t>Increased exposure to real-world exploitation</a:t>
              </a:r>
              <a:r>
                <a:rPr lang="en-US" sz="2100" u="none" strike="noStrike" dirty="0">
                  <a:solidFill>
                    <a:srgbClr val="C5E9F6"/>
                  </a:solidFill>
                  <a:latin typeface="TT Fors"/>
                  <a:ea typeface="TT Fors"/>
                  <a:cs typeface="TT Fors"/>
                  <a:sym typeface="TT Fors"/>
                </a:rPr>
                <a:t>, even when patches are technically available</a:t>
              </a:r>
            </a:p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endParaRPr lang="en-US" sz="2100" u="none" strike="noStrike" dirty="0">
                <a:solidFill>
                  <a:srgbClr val="C5E9F6"/>
                </a:solidFill>
                <a:latin typeface="TT Fors"/>
                <a:ea typeface="TT Fors"/>
                <a:cs typeface="TT Fors"/>
                <a:sym typeface="TT Fors"/>
              </a:endParaRPr>
            </a:p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u="none" strike="noStrike" dirty="0">
                  <a:solidFill>
                    <a:srgbClr val="C5E9F6"/>
                  </a:solidFill>
                  <a:latin typeface="TT Fors"/>
                  <a:ea typeface="TT Fors"/>
                  <a:cs typeface="TT Fors"/>
                  <a:sym typeface="TT Fors"/>
                </a:rPr>
                <a:t>In large infrastructures, patch scheduling becomes a combinatorial optimization problem that is infeasible to solve manually or with simple rule-based systems.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-4267198" y="-66675"/>
              <a:ext cx="13449299" cy="194925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r>
                <a:rPr lang="en-US" sz="3199" u="none" strike="noStrike" spc="-95" dirty="0">
                  <a:solidFill>
                    <a:srgbClr val="1B9AAA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Modern enterprises face a critical challenge in patch management: deciding when and in which order vulnerabilities should be patched.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303343" y="7829550"/>
            <a:ext cx="4846643" cy="1791955"/>
            <a:chOff x="0" y="0"/>
            <a:chExt cx="6462190" cy="238927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8" name="Freeform 8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9" name="Freeform 9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33858" y="659606"/>
            <a:ext cx="11234292" cy="8145134"/>
            <a:chOff x="-43856" y="-9525"/>
            <a:chExt cx="14979056" cy="10860178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14935200" cy="1626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>
                  <a:solidFill>
                    <a:srgbClr val="21C7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Market Potential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428964"/>
              <a:ext cx="14046200" cy="742168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42900" lvl="0" indent="-342900" algn="l">
                <a:lnSpc>
                  <a:spcPts val="2940"/>
                </a:lnSpc>
                <a:buFont typeface="Arial" panose="020B0604020202020204" pitchFamily="34" charset="0"/>
                <a:buChar char="•"/>
              </a:pPr>
              <a:r>
                <a:rPr lang="en-US" sz="2100" dirty="0">
                  <a:solidFill>
                    <a:srgbClr val="C5E9F6"/>
                  </a:solidFill>
                  <a:latin typeface="TT Fors"/>
                  <a:ea typeface="TT Fors"/>
                  <a:cs typeface="TT Fors"/>
                  <a:sym typeface="TT Fors"/>
                </a:rPr>
                <a:t>Enterprises with large IT infrastructures</a:t>
              </a:r>
            </a:p>
            <a:p>
              <a:pPr marL="342900" lvl="0" indent="-342900" algn="l">
                <a:lnSpc>
                  <a:spcPts val="2940"/>
                </a:lnSpc>
                <a:buFont typeface="Arial" panose="020B0604020202020204" pitchFamily="34" charset="0"/>
                <a:buChar char="•"/>
              </a:pPr>
              <a:r>
                <a:rPr lang="en-US" sz="2100" dirty="0">
                  <a:solidFill>
                    <a:srgbClr val="C5E9F6"/>
                  </a:solidFill>
                  <a:latin typeface="TT Fors"/>
                  <a:ea typeface="TT Fors"/>
                  <a:cs typeface="TT Fors"/>
                  <a:sym typeface="TT Fors"/>
                </a:rPr>
                <a:t>Critical sectors such as finance, healthcare, energy, and government</a:t>
              </a:r>
            </a:p>
            <a:p>
              <a:pPr marL="342900" lvl="0" indent="-342900" algn="l">
                <a:lnSpc>
                  <a:spcPts val="2940"/>
                </a:lnSpc>
                <a:buFont typeface="Arial" panose="020B0604020202020204" pitchFamily="34" charset="0"/>
                <a:buChar char="•"/>
              </a:pPr>
              <a:r>
                <a:rPr lang="en-US" sz="2100" dirty="0">
                  <a:solidFill>
                    <a:srgbClr val="C5E9F6"/>
                  </a:solidFill>
                  <a:latin typeface="TT Fors"/>
                  <a:ea typeface="TT Fors"/>
                  <a:cs typeface="TT Fors"/>
                  <a:sym typeface="TT Fors"/>
                </a:rPr>
                <a:t>Organizations under strict compliance and SLA requirements</a:t>
              </a:r>
            </a:p>
            <a:p>
              <a:pPr marL="0" lvl="0" indent="0" algn="l">
                <a:lnSpc>
                  <a:spcPts val="2940"/>
                </a:lnSpc>
              </a:pPr>
              <a:endParaRPr lang="en-US" sz="2100" dirty="0">
                <a:solidFill>
                  <a:srgbClr val="C5E9F6"/>
                </a:solidFill>
                <a:latin typeface="TT Fors"/>
                <a:ea typeface="TT Fors"/>
                <a:cs typeface="TT Fors"/>
                <a:sym typeface="TT Fors"/>
              </a:endParaRPr>
            </a:p>
            <a:p>
              <a:pPr marL="0" lvl="0" indent="0" algn="l">
                <a:lnSpc>
                  <a:spcPts val="2940"/>
                </a:lnSpc>
              </a:pPr>
              <a:r>
                <a:rPr lang="en-US" sz="2100" dirty="0">
                  <a:solidFill>
                    <a:srgbClr val="C5E9F6"/>
                  </a:solidFill>
                  <a:latin typeface="TT Fors"/>
                  <a:ea typeface="TT Fors"/>
                  <a:cs typeface="TT Fors"/>
                  <a:sym typeface="TT Fors"/>
                </a:rPr>
                <a:t>As threat landscapes evolve faster, there is a growing demand for:</a:t>
              </a:r>
            </a:p>
            <a:p>
              <a:pPr marL="342900" lvl="0" indent="-342900" algn="l">
                <a:lnSpc>
                  <a:spcPts val="2940"/>
                </a:lnSpc>
                <a:buFont typeface="Arial" panose="020B0604020202020204" pitchFamily="34" charset="0"/>
                <a:buChar char="•"/>
              </a:pPr>
              <a:r>
                <a:rPr lang="en-US" sz="2100" b="1" dirty="0">
                  <a:solidFill>
                    <a:srgbClr val="C5E9F6"/>
                  </a:solidFill>
                  <a:latin typeface="TT Fors"/>
                  <a:ea typeface="TT Fors"/>
                  <a:cs typeface="TT Fors"/>
                  <a:sym typeface="TT Fors"/>
                </a:rPr>
                <a:t>Risk-aware decision support systems</a:t>
              </a:r>
            </a:p>
            <a:p>
              <a:pPr marL="342900" lvl="0" indent="-342900" algn="l">
                <a:lnSpc>
                  <a:spcPts val="2940"/>
                </a:lnSpc>
                <a:buFont typeface="Arial" panose="020B0604020202020204" pitchFamily="34" charset="0"/>
                <a:buChar char="•"/>
              </a:pPr>
              <a:r>
                <a:rPr lang="en-US" sz="2100" b="1" dirty="0">
                  <a:solidFill>
                    <a:srgbClr val="C5E9F6"/>
                  </a:solidFill>
                  <a:latin typeface="TT Fors"/>
                  <a:ea typeface="TT Fors"/>
                  <a:cs typeface="TT Fors"/>
                  <a:sym typeface="TT Fors"/>
                </a:rPr>
                <a:t>Automation combined with explainability</a:t>
              </a:r>
            </a:p>
            <a:p>
              <a:pPr marL="342900" lvl="0" indent="-342900" algn="l">
                <a:lnSpc>
                  <a:spcPts val="2940"/>
                </a:lnSpc>
                <a:buFont typeface="Arial" panose="020B0604020202020204" pitchFamily="34" charset="0"/>
                <a:buChar char="•"/>
              </a:pPr>
              <a:r>
                <a:rPr lang="en-US" sz="2100" b="1" dirty="0">
                  <a:solidFill>
                    <a:srgbClr val="C5E9F6"/>
                  </a:solidFill>
                  <a:latin typeface="TT Fors"/>
                  <a:ea typeface="TT Fors"/>
                  <a:cs typeface="TT Fors"/>
                  <a:sym typeface="TT Fors"/>
                </a:rPr>
                <a:t>Optimization techniques that respect real operational constraints</a:t>
              </a:r>
            </a:p>
            <a:p>
              <a:pPr marL="0" lvl="0" indent="0" algn="l">
                <a:lnSpc>
                  <a:spcPts val="2940"/>
                </a:lnSpc>
              </a:pPr>
              <a:endParaRPr lang="en-US" sz="2100" dirty="0">
                <a:solidFill>
                  <a:srgbClr val="C5E9F6"/>
                </a:solidFill>
                <a:latin typeface="TT Fors"/>
                <a:ea typeface="TT Fors"/>
                <a:cs typeface="TT Fors"/>
                <a:sym typeface="TT Fors"/>
              </a:endParaRPr>
            </a:p>
            <a:p>
              <a:pPr marL="0" lvl="0" indent="0" algn="l">
                <a:lnSpc>
                  <a:spcPts val="2940"/>
                </a:lnSpc>
              </a:pPr>
              <a:r>
                <a:rPr lang="en-US" sz="2100" dirty="0">
                  <a:solidFill>
                    <a:srgbClr val="C5E9F6"/>
                  </a:solidFill>
                  <a:latin typeface="TT Fors"/>
                  <a:ea typeface="TT Fors"/>
                  <a:cs typeface="TT Fors"/>
                  <a:sym typeface="TT Fors"/>
                </a:rPr>
                <a:t>This problem is not limited to cybersecurity. The same decision model applies to:</a:t>
              </a:r>
            </a:p>
            <a:p>
              <a:pPr marL="342900" lvl="0" indent="-342900" algn="l">
                <a:lnSpc>
                  <a:spcPts val="2940"/>
                </a:lnSpc>
                <a:buFont typeface="Arial" panose="020B0604020202020204" pitchFamily="34" charset="0"/>
                <a:buChar char="•"/>
              </a:pPr>
              <a:r>
                <a:rPr lang="en-US" sz="2100" dirty="0">
                  <a:solidFill>
                    <a:srgbClr val="C5E9F6"/>
                  </a:solidFill>
                  <a:latin typeface="TT Fors"/>
                  <a:ea typeface="TT Fors"/>
                  <a:cs typeface="TT Fors"/>
                  <a:sym typeface="TT Fors"/>
                </a:rPr>
                <a:t>Maintenance scheduling</a:t>
              </a:r>
            </a:p>
            <a:p>
              <a:pPr marL="342900" lvl="0" indent="-342900" algn="l">
                <a:lnSpc>
                  <a:spcPts val="2940"/>
                </a:lnSpc>
                <a:buFont typeface="Arial" panose="020B0604020202020204" pitchFamily="34" charset="0"/>
                <a:buChar char="•"/>
              </a:pPr>
              <a:r>
                <a:rPr lang="en-US" sz="2100" dirty="0">
                  <a:solidFill>
                    <a:srgbClr val="C5E9F6"/>
                  </a:solidFill>
                  <a:latin typeface="TT Fors"/>
                  <a:ea typeface="TT Fors"/>
                  <a:cs typeface="TT Fors"/>
                  <a:sym typeface="TT Fors"/>
                </a:rPr>
                <a:t>Resource allocation</a:t>
              </a:r>
            </a:p>
            <a:p>
              <a:pPr marL="342900" lvl="0" indent="-342900" algn="l">
                <a:lnSpc>
                  <a:spcPts val="2940"/>
                </a:lnSpc>
                <a:buFont typeface="Arial" panose="020B0604020202020204" pitchFamily="34" charset="0"/>
                <a:buChar char="•"/>
              </a:pPr>
              <a:r>
                <a:rPr lang="en-US" sz="2100" dirty="0">
                  <a:solidFill>
                    <a:srgbClr val="C5E9F6"/>
                  </a:solidFill>
                  <a:latin typeface="TT Fors"/>
                  <a:ea typeface="TT Fors"/>
                  <a:cs typeface="TT Fors"/>
                  <a:sym typeface="TT Fors"/>
                </a:rPr>
                <a:t>Risk-based planning problems</a:t>
              </a:r>
            </a:p>
            <a:p>
              <a:pPr marL="0" lvl="0" indent="0" algn="l">
                <a:lnSpc>
                  <a:spcPts val="2940"/>
                </a:lnSpc>
              </a:pPr>
              <a:endParaRPr lang="en-US" sz="2100" dirty="0">
                <a:solidFill>
                  <a:srgbClr val="C5E9F6"/>
                </a:solidFill>
                <a:latin typeface="TT Fors"/>
                <a:ea typeface="TT Fors"/>
                <a:cs typeface="TT Fors"/>
                <a:sym typeface="TT Fors"/>
              </a:endParaRPr>
            </a:p>
            <a:p>
              <a:pPr marL="0" lvl="0" indent="0" algn="l">
                <a:lnSpc>
                  <a:spcPts val="2940"/>
                </a:lnSpc>
              </a:pPr>
              <a:r>
                <a:rPr lang="en-US" sz="2100" dirty="0">
                  <a:solidFill>
                    <a:srgbClr val="C5E9F6"/>
                  </a:solidFill>
                  <a:latin typeface="TT Fors"/>
                  <a:ea typeface="TT Fors"/>
                  <a:cs typeface="TT Fors"/>
                  <a:sym typeface="TT Fors"/>
                </a:rPr>
                <a:t>Making this solution highly transferable and scalable.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-43856" y="2006600"/>
              <a:ext cx="13017500" cy="13011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r>
                <a:rPr lang="en-US" sz="3199" u="none" strike="noStrike" spc="-95" dirty="0">
                  <a:solidFill>
                    <a:srgbClr val="1B9AAA"/>
                  </a:solidFill>
                  <a:latin typeface="TT Fors"/>
                  <a:ea typeface="TT Fors"/>
                  <a:cs typeface="TT Fors"/>
                  <a:sym typeface="TT Fors"/>
                </a:rPr>
                <a:t>Cybersecurity patch management is a core operational need for: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744700" y="7829550"/>
            <a:ext cx="4846643" cy="1791955"/>
            <a:chOff x="0" y="0"/>
            <a:chExt cx="6462190" cy="238927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8" name="Freeform 8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9" name="Freeform 9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66750" y="3390900"/>
            <a:ext cx="16325850" cy="63080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866"/>
              </a:lnSpc>
            </a:pPr>
            <a:r>
              <a:rPr lang="en-US" sz="2047" dirty="0">
                <a:solidFill>
                  <a:srgbClr val="C5E9F6"/>
                </a:solidFill>
                <a:latin typeface="TT Fors"/>
                <a:ea typeface="TT Fors"/>
                <a:cs typeface="TT Fors"/>
                <a:sym typeface="TT Fors"/>
              </a:rPr>
              <a:t>That </a:t>
            </a:r>
            <a:r>
              <a:rPr lang="en-US" sz="2047" dirty="0" err="1">
                <a:solidFill>
                  <a:srgbClr val="C5E9F6"/>
                </a:solidFill>
                <a:latin typeface="TT Fors"/>
                <a:ea typeface="TT Fors"/>
                <a:cs typeface="TT Fors"/>
                <a:sym typeface="TT Fors"/>
              </a:rPr>
              <a:t>integragrates</a:t>
            </a:r>
            <a:r>
              <a:rPr lang="en-US" sz="2047" dirty="0">
                <a:solidFill>
                  <a:srgbClr val="C5E9F6"/>
                </a:solidFill>
                <a:latin typeface="TT Fors"/>
                <a:ea typeface="TT Fors"/>
                <a:cs typeface="TT Fors"/>
                <a:sym typeface="TT Fors"/>
              </a:rPr>
              <a:t>:</a:t>
            </a:r>
          </a:p>
          <a:p>
            <a:pPr marL="342900" lvl="0" indent="-342900" algn="l">
              <a:lnSpc>
                <a:spcPts val="2866"/>
              </a:lnSpc>
              <a:buFont typeface="Arial" panose="020B0604020202020204" pitchFamily="34" charset="0"/>
              <a:buChar char="•"/>
            </a:pPr>
            <a:r>
              <a:rPr lang="en-US" sz="2047" b="1" dirty="0">
                <a:solidFill>
                  <a:srgbClr val="C5E9F6"/>
                </a:solidFill>
                <a:latin typeface="TT Fors"/>
                <a:ea typeface="TT Fors"/>
                <a:cs typeface="TT Fors"/>
                <a:sym typeface="TT Fors"/>
              </a:rPr>
              <a:t>EPSS-based risk prediction</a:t>
            </a:r>
            <a:r>
              <a:rPr lang="en-US" sz="2047" dirty="0">
                <a:solidFill>
                  <a:srgbClr val="C5E9F6"/>
                </a:solidFill>
                <a:latin typeface="TT Fors"/>
                <a:ea typeface="TT Fors"/>
                <a:cs typeface="TT Fors"/>
                <a:sym typeface="TT Fors"/>
              </a:rPr>
              <a:t>, capturing the real likelihood of exploitation</a:t>
            </a:r>
          </a:p>
          <a:p>
            <a:pPr marL="342900" lvl="0" indent="-342900" algn="l">
              <a:lnSpc>
                <a:spcPts val="2866"/>
              </a:lnSpc>
              <a:buFont typeface="Arial" panose="020B0604020202020204" pitchFamily="34" charset="0"/>
              <a:buChar char="•"/>
            </a:pPr>
            <a:r>
              <a:rPr lang="en-US" sz="2047" b="1" dirty="0">
                <a:solidFill>
                  <a:srgbClr val="C5E9F6"/>
                </a:solidFill>
                <a:latin typeface="TT Fors"/>
                <a:ea typeface="TT Fors"/>
                <a:cs typeface="TT Fors"/>
                <a:sym typeface="TT Fors"/>
              </a:rPr>
              <a:t>Genetic Algorithms</a:t>
            </a:r>
            <a:r>
              <a:rPr lang="en-US" sz="2047" dirty="0">
                <a:solidFill>
                  <a:srgbClr val="C5E9F6"/>
                </a:solidFill>
                <a:latin typeface="TT Fors"/>
                <a:ea typeface="TT Fors"/>
                <a:cs typeface="TT Fors"/>
                <a:sym typeface="TT Fors"/>
              </a:rPr>
              <a:t>, used to explore optimal patch execution sequences</a:t>
            </a:r>
          </a:p>
          <a:p>
            <a:pPr marL="342900" lvl="0" indent="-342900" algn="l">
              <a:lnSpc>
                <a:spcPts val="2866"/>
              </a:lnSpc>
              <a:buFont typeface="Arial" panose="020B0604020202020204" pitchFamily="34" charset="0"/>
              <a:buChar char="•"/>
            </a:pPr>
            <a:r>
              <a:rPr lang="en-US" sz="2047" dirty="0">
                <a:solidFill>
                  <a:srgbClr val="C5E9F6"/>
                </a:solidFill>
                <a:latin typeface="TT Fors"/>
                <a:ea typeface="TT Fors"/>
                <a:cs typeface="TT Fors"/>
                <a:sym typeface="TT Fors"/>
              </a:rPr>
              <a:t>A </a:t>
            </a:r>
            <a:r>
              <a:rPr lang="en-US" sz="2047" b="1" dirty="0">
                <a:solidFill>
                  <a:srgbClr val="C5E9F6"/>
                </a:solidFill>
                <a:latin typeface="TT Fors"/>
                <a:ea typeface="TT Fors"/>
                <a:cs typeface="TT Fors"/>
                <a:sym typeface="TT Fors"/>
              </a:rPr>
              <a:t>deterministic Smart Greedy Decoder</a:t>
            </a:r>
            <a:r>
              <a:rPr lang="en-US" sz="2047" dirty="0">
                <a:solidFill>
                  <a:srgbClr val="C5E9F6"/>
                </a:solidFill>
                <a:latin typeface="TT Fors"/>
                <a:ea typeface="TT Fors"/>
                <a:cs typeface="TT Fors"/>
                <a:sym typeface="TT Fors"/>
              </a:rPr>
              <a:t>, ensuring that every solution:</a:t>
            </a:r>
          </a:p>
          <a:p>
            <a:pPr marL="800100" lvl="1" indent="-342900">
              <a:lnSpc>
                <a:spcPts val="2866"/>
              </a:lnSpc>
              <a:buFont typeface="Arial" panose="020B0604020202020204" pitchFamily="34" charset="0"/>
              <a:buChar char="•"/>
            </a:pPr>
            <a:r>
              <a:rPr lang="en-US" sz="2047" dirty="0">
                <a:solidFill>
                  <a:srgbClr val="C5E9F6"/>
                </a:solidFill>
                <a:latin typeface="TT Fors"/>
                <a:ea typeface="TT Fors"/>
                <a:cs typeface="TT Fors"/>
                <a:sym typeface="TT Fors"/>
              </a:rPr>
              <a:t>Respects task dependencies (e.g. UAT before PROD)</a:t>
            </a:r>
          </a:p>
          <a:p>
            <a:pPr marL="800100" lvl="1" indent="-342900">
              <a:lnSpc>
                <a:spcPts val="2866"/>
              </a:lnSpc>
              <a:buFont typeface="Arial" panose="020B0604020202020204" pitchFamily="34" charset="0"/>
              <a:buChar char="•"/>
            </a:pPr>
            <a:r>
              <a:rPr lang="en-US" sz="2047" dirty="0">
                <a:solidFill>
                  <a:srgbClr val="C5E9F6"/>
                </a:solidFill>
                <a:latin typeface="TT Fors"/>
                <a:ea typeface="TT Fors"/>
                <a:cs typeface="TT Fors"/>
                <a:sym typeface="TT Fors"/>
              </a:rPr>
              <a:t>Obeys time, team, and environment constraints</a:t>
            </a:r>
          </a:p>
          <a:p>
            <a:pPr marL="800100" lvl="1" indent="-342900">
              <a:lnSpc>
                <a:spcPts val="2866"/>
              </a:lnSpc>
              <a:buFont typeface="Arial" panose="020B0604020202020204" pitchFamily="34" charset="0"/>
              <a:buChar char="•"/>
            </a:pPr>
            <a:r>
              <a:rPr lang="en-US" sz="2047" dirty="0">
                <a:solidFill>
                  <a:srgbClr val="C5E9F6"/>
                </a:solidFill>
                <a:latin typeface="TT Fors"/>
                <a:ea typeface="TT Fors"/>
                <a:cs typeface="TT Fors"/>
                <a:sym typeface="TT Fors"/>
              </a:rPr>
              <a:t>Produces a valid and executable schedule</a:t>
            </a:r>
          </a:p>
          <a:p>
            <a:pPr marL="800100" lvl="1" indent="-342900">
              <a:lnSpc>
                <a:spcPts val="2866"/>
              </a:lnSpc>
              <a:buFont typeface="Arial" panose="020B0604020202020204" pitchFamily="34" charset="0"/>
              <a:buChar char="•"/>
            </a:pPr>
            <a:endParaRPr lang="en-US" sz="2047" dirty="0">
              <a:solidFill>
                <a:srgbClr val="C5E9F6"/>
              </a:solidFill>
              <a:latin typeface="TT Fors"/>
              <a:ea typeface="TT Fors"/>
              <a:cs typeface="TT Fors"/>
              <a:sym typeface="TT Fors"/>
            </a:endParaRPr>
          </a:p>
          <a:p>
            <a:pPr marL="0" lvl="0" indent="0" algn="l">
              <a:lnSpc>
                <a:spcPts val="2866"/>
              </a:lnSpc>
            </a:pPr>
            <a:r>
              <a:rPr lang="en-US" sz="2047" dirty="0">
                <a:solidFill>
                  <a:srgbClr val="C5E9F6"/>
                </a:solidFill>
                <a:latin typeface="TT Fors"/>
                <a:ea typeface="TT Fors"/>
                <a:cs typeface="TT Fors"/>
                <a:sym typeface="TT Fors"/>
              </a:rPr>
              <a:t>Instead of asking “</a:t>
            </a:r>
            <a:r>
              <a:rPr lang="en-US" sz="2047" i="1" dirty="0">
                <a:solidFill>
                  <a:srgbClr val="C5E9F6"/>
                </a:solidFill>
                <a:latin typeface="TT Fors"/>
                <a:ea typeface="TT Fors"/>
                <a:cs typeface="TT Fors"/>
                <a:sym typeface="TT Fors"/>
              </a:rPr>
              <a:t>Which patch is more severe?</a:t>
            </a:r>
            <a:r>
              <a:rPr lang="en-US" sz="2047" dirty="0">
                <a:solidFill>
                  <a:srgbClr val="C5E9F6"/>
                </a:solidFill>
                <a:latin typeface="TT Fors"/>
                <a:ea typeface="TT Fors"/>
                <a:cs typeface="TT Fors"/>
                <a:sym typeface="TT Fors"/>
              </a:rPr>
              <a:t>”, our system answers:</a:t>
            </a:r>
          </a:p>
          <a:p>
            <a:pPr marL="0" lvl="0" indent="0" algn="l">
              <a:lnSpc>
                <a:spcPts val="2866"/>
              </a:lnSpc>
            </a:pPr>
            <a:r>
              <a:rPr lang="en-US" sz="2047" dirty="0">
                <a:solidFill>
                  <a:srgbClr val="C5E9F6"/>
                </a:solidFill>
                <a:latin typeface="TT Fors"/>
                <a:ea typeface="TT Fors"/>
                <a:cs typeface="TT Fors"/>
                <a:sym typeface="TT Fors"/>
              </a:rPr>
              <a:t>“</a:t>
            </a:r>
            <a:r>
              <a:rPr lang="en-US" sz="2047" b="1" dirty="0">
                <a:solidFill>
                  <a:srgbClr val="C5E9F6"/>
                </a:solidFill>
                <a:latin typeface="TT Fors"/>
                <a:ea typeface="TT Fors"/>
                <a:cs typeface="TT Fors"/>
                <a:sym typeface="TT Fors"/>
              </a:rPr>
              <a:t>What is the best patching plan, given risk, constraints, and limited resources</a:t>
            </a:r>
            <a:r>
              <a:rPr lang="en-US" sz="2047" dirty="0">
                <a:solidFill>
                  <a:srgbClr val="C5E9F6"/>
                </a:solidFill>
                <a:latin typeface="TT Fors"/>
                <a:ea typeface="TT Fors"/>
                <a:cs typeface="TT Fors"/>
                <a:sym typeface="TT Fors"/>
              </a:rPr>
              <a:t>?”</a:t>
            </a:r>
          </a:p>
          <a:p>
            <a:pPr marL="0" lvl="0" indent="0" algn="l">
              <a:lnSpc>
                <a:spcPts val="2866"/>
              </a:lnSpc>
            </a:pPr>
            <a:endParaRPr lang="en-US" sz="2047" dirty="0">
              <a:solidFill>
                <a:srgbClr val="C5E9F6"/>
              </a:solidFill>
              <a:latin typeface="TT Fors"/>
              <a:ea typeface="TT Fors"/>
              <a:cs typeface="TT Fors"/>
              <a:sym typeface="TT Fors"/>
            </a:endParaRPr>
          </a:p>
          <a:p>
            <a:pPr marL="0" lvl="0" indent="0" algn="l">
              <a:lnSpc>
                <a:spcPts val="2866"/>
              </a:lnSpc>
            </a:pPr>
            <a:r>
              <a:rPr lang="en-US" sz="2047" dirty="0">
                <a:solidFill>
                  <a:srgbClr val="C5E9F6"/>
                </a:solidFill>
                <a:latin typeface="TT Fors"/>
                <a:ea typeface="TT Fors"/>
                <a:cs typeface="TT Fors"/>
                <a:sym typeface="TT Fors"/>
              </a:rPr>
              <a:t>The result is:</a:t>
            </a:r>
          </a:p>
          <a:p>
            <a:pPr marL="342900" lvl="0" indent="-342900" algn="l">
              <a:lnSpc>
                <a:spcPts val="2866"/>
              </a:lnSpc>
              <a:buFont typeface="Arial" panose="020B0604020202020204" pitchFamily="34" charset="0"/>
              <a:buChar char="•"/>
            </a:pPr>
            <a:r>
              <a:rPr lang="en-US" sz="2047" dirty="0">
                <a:solidFill>
                  <a:srgbClr val="C5E9F6"/>
                </a:solidFill>
                <a:latin typeface="TT Fors"/>
                <a:ea typeface="TT Fors"/>
                <a:cs typeface="TT Fors"/>
                <a:sym typeface="TT Fors"/>
              </a:rPr>
              <a:t>Reduced exposure to high-risk vulnerabilities</a:t>
            </a:r>
          </a:p>
          <a:p>
            <a:pPr marL="342900" lvl="0" indent="-342900" algn="l">
              <a:lnSpc>
                <a:spcPts val="2866"/>
              </a:lnSpc>
              <a:buFont typeface="Arial" panose="020B0604020202020204" pitchFamily="34" charset="0"/>
              <a:buChar char="•"/>
            </a:pPr>
            <a:r>
              <a:rPr lang="en-US" sz="2047" dirty="0">
                <a:solidFill>
                  <a:srgbClr val="C5E9F6"/>
                </a:solidFill>
                <a:latin typeface="TT Fors"/>
                <a:ea typeface="TT Fors"/>
                <a:cs typeface="TT Fors"/>
                <a:sym typeface="TT Fors"/>
              </a:rPr>
              <a:t>Better use of operational capacity</a:t>
            </a:r>
          </a:p>
          <a:p>
            <a:pPr marL="342900" lvl="0" indent="-342900" algn="l">
              <a:lnSpc>
                <a:spcPts val="2866"/>
              </a:lnSpc>
              <a:buFont typeface="Arial" panose="020B0604020202020204" pitchFamily="34" charset="0"/>
              <a:buChar char="•"/>
            </a:pPr>
            <a:r>
              <a:rPr lang="en-US" sz="2047" dirty="0">
                <a:solidFill>
                  <a:srgbClr val="C5E9F6"/>
                </a:solidFill>
                <a:latin typeface="TT Fors"/>
                <a:ea typeface="TT Fors"/>
                <a:cs typeface="TT Fors"/>
                <a:sym typeface="TT Fors"/>
              </a:rPr>
              <a:t>Transparent and explainable scheduling decisions</a:t>
            </a:r>
          </a:p>
          <a:p>
            <a:pPr marL="0" lvl="0" indent="0" algn="l">
              <a:lnSpc>
                <a:spcPts val="2866"/>
              </a:lnSpc>
            </a:pPr>
            <a:endParaRPr lang="en-US" sz="2047" dirty="0">
              <a:solidFill>
                <a:srgbClr val="C5E9F6"/>
              </a:solidFill>
              <a:latin typeface="TT Fors"/>
              <a:ea typeface="TT Fors"/>
              <a:cs typeface="TT Fors"/>
              <a:sym typeface="TT Fors"/>
            </a:endParaRPr>
          </a:p>
          <a:p>
            <a:pPr marL="0" lvl="0" indent="0" algn="l">
              <a:lnSpc>
                <a:spcPts val="2866"/>
              </a:lnSpc>
            </a:pPr>
            <a:r>
              <a:rPr lang="en-US" sz="2047" dirty="0">
                <a:solidFill>
                  <a:srgbClr val="C5E9F6"/>
                </a:solidFill>
                <a:latin typeface="TT Fors"/>
                <a:ea typeface="TT Fors"/>
                <a:cs typeface="TT Fors"/>
                <a:sym typeface="TT Fors"/>
              </a:rPr>
              <a:t>This transforms patch management from a reactive process into a data-driven planning and optimization problem.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66750" y="659606"/>
            <a:ext cx="11201400" cy="2172076"/>
            <a:chOff x="0" y="-9525"/>
            <a:chExt cx="14935200" cy="2896101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9525"/>
              <a:ext cx="14935200" cy="1626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>
                  <a:solidFill>
                    <a:srgbClr val="21C7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Our Solution Overview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2235200"/>
              <a:ext cx="13423900" cy="6513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</a:pPr>
              <a:r>
                <a:rPr lang="en-US" sz="3199" u="none" strike="noStrike" spc="-95" dirty="0">
                  <a:solidFill>
                    <a:srgbClr val="1B9AAA"/>
                  </a:solidFill>
                  <a:latin typeface="TT Fors"/>
                  <a:ea typeface="TT Fors"/>
                  <a:cs typeface="TT Fors"/>
                  <a:sym typeface="TT Fors"/>
                </a:rPr>
                <a:t>We propose an intelligent decision-support system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430959" y="752281"/>
            <a:ext cx="2190291" cy="809819"/>
            <a:chOff x="0" y="0"/>
            <a:chExt cx="2920388" cy="107975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920315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84063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B429D1-7706-82A6-97B5-CB11C6CB0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4D6184D-6D72-60E6-E8F4-CC60C1DAAAEC}"/>
              </a:ext>
            </a:extLst>
          </p:cNvPr>
          <p:cNvGrpSpPr/>
          <p:nvPr/>
        </p:nvGrpSpPr>
        <p:grpSpPr>
          <a:xfrm>
            <a:off x="666750" y="5064919"/>
            <a:ext cx="4010025" cy="2782731"/>
            <a:chOff x="0" y="-104775"/>
            <a:chExt cx="5346700" cy="3710308"/>
          </a:xfrm>
        </p:grpSpPr>
        <p:sp>
          <p:nvSpPr>
            <p:cNvPr id="3" name="TextBox 3">
              <a:extLst>
                <a:ext uri="{FF2B5EF4-FFF2-40B4-BE49-F238E27FC236}">
                  <a16:creationId xmlns:a16="http://schemas.microsoft.com/office/drawing/2014/main" id="{25B0E1AB-4572-B592-4B89-BAF5EC855889}"/>
                </a:ext>
              </a:extLst>
            </p:cNvPr>
            <p:cNvSpPr txBox="1"/>
            <p:nvPr/>
          </p:nvSpPr>
          <p:spPr>
            <a:xfrm>
              <a:off x="0" y="1145201"/>
              <a:ext cx="5346700" cy="2460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66"/>
                </a:lnSpc>
              </a:pPr>
              <a:r>
                <a:rPr lang="en-US" sz="2047" dirty="0">
                  <a:solidFill>
                    <a:srgbClr val="C5E9F6"/>
                  </a:solidFill>
                  <a:latin typeface="TT Fors"/>
                  <a:ea typeface="TT Fors"/>
                  <a:cs typeface="TT Fors"/>
                  <a:sym typeface="TT Fors"/>
                </a:rPr>
                <a:t>We use EPSS-based machine learning to estimate the real probability of vulnerability exploitation, moving beyond static severity scores.</a:t>
              </a: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3FE3910-EB82-A96E-1005-F2B5A84D82E3}"/>
                </a:ext>
              </a:extLst>
            </p:cNvPr>
            <p:cNvSpPr txBox="1"/>
            <p:nvPr/>
          </p:nvSpPr>
          <p:spPr>
            <a:xfrm>
              <a:off x="0" y="-104775"/>
              <a:ext cx="5346700" cy="5615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48"/>
                </a:lnSpc>
                <a:spcBef>
                  <a:spcPct val="0"/>
                </a:spcBef>
              </a:pPr>
              <a:r>
                <a:rPr lang="en-US" sz="2535" u="none" strike="noStrike" spc="-76" dirty="0">
                  <a:solidFill>
                    <a:srgbClr val="C5E9F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Machine Learning</a:t>
              </a: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54C8E75C-EFE8-80A4-7552-3D6AA9C3456A}"/>
              </a:ext>
            </a:extLst>
          </p:cNvPr>
          <p:cNvGrpSpPr/>
          <p:nvPr/>
        </p:nvGrpSpPr>
        <p:grpSpPr>
          <a:xfrm>
            <a:off x="6419850" y="5064919"/>
            <a:ext cx="4010025" cy="2782731"/>
            <a:chOff x="0" y="-104775"/>
            <a:chExt cx="5346700" cy="3710308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75CD4753-9E01-2658-8A4E-9F339FF7C679}"/>
                </a:ext>
              </a:extLst>
            </p:cNvPr>
            <p:cNvSpPr txBox="1"/>
            <p:nvPr/>
          </p:nvSpPr>
          <p:spPr>
            <a:xfrm>
              <a:off x="0" y="1145201"/>
              <a:ext cx="5346700" cy="2460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66"/>
                </a:lnSpc>
              </a:pPr>
              <a:r>
                <a:rPr lang="en-US" sz="2047" dirty="0">
                  <a:solidFill>
                    <a:srgbClr val="C5E9F6"/>
                  </a:solidFill>
                  <a:latin typeface="TT Fors"/>
                  <a:ea typeface="TT Fors"/>
                  <a:cs typeface="TT Fors"/>
                  <a:sym typeface="TT Fors"/>
                </a:rPr>
                <a:t>Patching is modeled as a constrained planning problem, solved with Genetic Algorithms to produce an optimized and executable patch schedule.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4927A42-2DBC-CA53-62E1-51083711456C}"/>
                </a:ext>
              </a:extLst>
            </p:cNvPr>
            <p:cNvSpPr txBox="1"/>
            <p:nvPr/>
          </p:nvSpPr>
          <p:spPr>
            <a:xfrm>
              <a:off x="0" y="-104775"/>
              <a:ext cx="5346700" cy="5615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48"/>
                </a:lnSpc>
                <a:spcBef>
                  <a:spcPct val="0"/>
                </a:spcBef>
              </a:pPr>
              <a:r>
                <a:rPr lang="en-US" sz="2535" u="none" strike="noStrike" spc="-76" dirty="0">
                  <a:solidFill>
                    <a:srgbClr val="C5E9F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Planning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4870C6F-019D-D5BD-6369-82BB10ED5983}"/>
              </a:ext>
            </a:extLst>
          </p:cNvPr>
          <p:cNvGrpSpPr/>
          <p:nvPr/>
        </p:nvGrpSpPr>
        <p:grpSpPr>
          <a:xfrm>
            <a:off x="12172950" y="5064919"/>
            <a:ext cx="4010025" cy="2410834"/>
            <a:chOff x="0" y="-104775"/>
            <a:chExt cx="5346700" cy="3214445"/>
          </a:xfrm>
        </p:grpSpPr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2EFCEEDA-2392-C4A8-972B-995272A99AAB}"/>
                </a:ext>
              </a:extLst>
            </p:cNvPr>
            <p:cNvSpPr txBox="1"/>
            <p:nvPr/>
          </p:nvSpPr>
          <p:spPr>
            <a:xfrm>
              <a:off x="0" y="1145201"/>
              <a:ext cx="5346700" cy="19644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66"/>
                </a:lnSpc>
              </a:pPr>
              <a:r>
                <a:rPr lang="en-US" sz="2047" dirty="0">
                  <a:solidFill>
                    <a:srgbClr val="C5E9F6"/>
                  </a:solidFill>
                  <a:latin typeface="TT Fors"/>
                  <a:ea typeface="TT Fors"/>
                  <a:cs typeface="TT Fors"/>
                  <a:sym typeface="TT Fors"/>
                </a:rPr>
                <a:t>A simple decision-support UI presents the plan, explains priorities, and allows what-if analysis for human validation.</a:t>
              </a: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F025D36C-CE99-E123-AB49-D4AD7611941D}"/>
                </a:ext>
              </a:extLst>
            </p:cNvPr>
            <p:cNvSpPr txBox="1"/>
            <p:nvPr/>
          </p:nvSpPr>
          <p:spPr>
            <a:xfrm>
              <a:off x="0" y="-104775"/>
              <a:ext cx="5346700" cy="6158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48"/>
                </a:lnSpc>
                <a:spcBef>
                  <a:spcPct val="0"/>
                </a:spcBef>
              </a:pPr>
              <a:r>
                <a:rPr lang="en-US" sz="2535" u="none" strike="noStrike" spc="-76">
                  <a:solidFill>
                    <a:srgbClr val="C5E9F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User Interface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849BF37B-9AA8-8C79-D933-0E9D5AF61C6A}"/>
              </a:ext>
            </a:extLst>
          </p:cNvPr>
          <p:cNvGrpSpPr/>
          <p:nvPr/>
        </p:nvGrpSpPr>
        <p:grpSpPr>
          <a:xfrm>
            <a:off x="666750" y="659606"/>
            <a:ext cx="11201400" cy="2172076"/>
            <a:chOff x="0" y="-9525"/>
            <a:chExt cx="14935200" cy="2896101"/>
          </a:xfrm>
        </p:grpSpPr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707E0F54-500F-D236-E515-D77AD69B57C7}"/>
                </a:ext>
              </a:extLst>
            </p:cNvPr>
            <p:cNvSpPr txBox="1"/>
            <p:nvPr/>
          </p:nvSpPr>
          <p:spPr>
            <a:xfrm>
              <a:off x="0" y="-9525"/>
              <a:ext cx="14935200" cy="1626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>
                  <a:solidFill>
                    <a:srgbClr val="21C7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Our Solution Overview</a:t>
              </a:r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2E40A59A-48B2-63F7-BE45-2E3978C46670}"/>
                </a:ext>
              </a:extLst>
            </p:cNvPr>
            <p:cNvSpPr txBox="1"/>
            <p:nvPr/>
          </p:nvSpPr>
          <p:spPr>
            <a:xfrm>
              <a:off x="0" y="2235200"/>
              <a:ext cx="13423900" cy="6513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</a:pPr>
              <a:r>
                <a:rPr lang="en-US" sz="3199" u="none" strike="noStrike" spc="-95" dirty="0">
                  <a:solidFill>
                    <a:srgbClr val="1B9AAA"/>
                  </a:solidFill>
                  <a:latin typeface="TT Fors"/>
                  <a:ea typeface="TT Fors"/>
                  <a:cs typeface="TT Fors"/>
                  <a:sym typeface="TT Fors"/>
                </a:rPr>
                <a:t>We propose an intelligent decision-support system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43962744-BBAB-E8A8-1129-C13CC09E6141}"/>
              </a:ext>
            </a:extLst>
          </p:cNvPr>
          <p:cNvGrpSpPr/>
          <p:nvPr/>
        </p:nvGrpSpPr>
        <p:grpSpPr>
          <a:xfrm>
            <a:off x="15430959" y="752281"/>
            <a:ext cx="2190291" cy="809819"/>
            <a:chOff x="0" y="0"/>
            <a:chExt cx="2920388" cy="1079758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483F7EB3-88D0-F58A-E5C4-A83AC40C6E68}"/>
                </a:ext>
              </a:extLst>
            </p:cNvPr>
            <p:cNvSpPr/>
            <p:nvPr/>
          </p:nvSpPr>
          <p:spPr>
            <a:xfrm>
              <a:off x="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A29AFB3B-FBA7-71DD-191A-2A5D9B6853A7}"/>
                </a:ext>
              </a:extLst>
            </p:cNvPr>
            <p:cNvSpPr/>
            <p:nvPr/>
          </p:nvSpPr>
          <p:spPr>
            <a:xfrm>
              <a:off x="920315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856BFF0C-BD3D-353D-B389-8FA32685E304}"/>
                </a:ext>
              </a:extLst>
            </p:cNvPr>
            <p:cNvSpPr/>
            <p:nvPr/>
          </p:nvSpPr>
          <p:spPr>
            <a:xfrm>
              <a:off x="184063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</p:grpSp>
    </p:spTree>
    <p:extLst>
      <p:ext uri="{BB962C8B-B14F-4D97-AF65-F5344CB8AC3E}">
        <p14:creationId xmlns:p14="http://schemas.microsoft.com/office/powerpoint/2010/main" val="3494812884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430959" y="752281"/>
            <a:ext cx="2190291" cy="809819"/>
            <a:chOff x="0" y="0"/>
            <a:chExt cx="2920388" cy="10797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4" name="Freeform 4"/>
            <p:cNvSpPr/>
            <p:nvPr/>
          </p:nvSpPr>
          <p:spPr>
            <a:xfrm>
              <a:off x="920315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5" name="Freeform 5"/>
            <p:cNvSpPr/>
            <p:nvPr/>
          </p:nvSpPr>
          <p:spPr>
            <a:xfrm>
              <a:off x="184063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659606"/>
            <a:ext cx="15640050" cy="2659389"/>
            <a:chOff x="0" y="-9525"/>
            <a:chExt cx="15384167" cy="3545852"/>
          </a:xfrm>
        </p:grpSpPr>
        <p:sp>
          <p:nvSpPr>
            <p:cNvPr id="9" name="TextBox 9"/>
            <p:cNvSpPr txBox="1"/>
            <p:nvPr/>
          </p:nvSpPr>
          <p:spPr>
            <a:xfrm>
              <a:off x="0" y="-9525"/>
              <a:ext cx="14935200" cy="1626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>
                  <a:solidFill>
                    <a:srgbClr val="21C7E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Our Solution Overview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2235200"/>
              <a:ext cx="15384167" cy="130112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</a:pPr>
              <a:r>
                <a:rPr lang="en-US" sz="3199" u="none" strike="noStrike" spc="-95" dirty="0">
                  <a:solidFill>
                    <a:srgbClr val="1B9AAA"/>
                  </a:solidFill>
                  <a:latin typeface="TT Fors"/>
                  <a:ea typeface="TT Fors"/>
                  <a:cs typeface="TT Fors"/>
                  <a:sym typeface="TT Fors"/>
                </a:rPr>
                <a:t>Integrating EPSS-Based Vulnerability Risk Prediction with Genetic-Algorithm Scheduling for Enterprise Patch Management</a:t>
              </a: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60AC80C9-3E24-6BDA-E699-9E7D0B37E9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68" y="3609294"/>
            <a:ext cx="4901332" cy="30112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CEDD667-7600-AD2D-55A6-335D9B6A39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964" y="3619985"/>
            <a:ext cx="11227377" cy="600740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985139B-9F3A-E358-47D4-98A09E7FBA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268" y="6693543"/>
            <a:ext cx="4901332" cy="293385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38FBD8E-D8F2-3513-BD43-048E9AB84A84}"/>
              </a:ext>
            </a:extLst>
          </p:cNvPr>
          <p:cNvSpPr/>
          <p:nvPr/>
        </p:nvSpPr>
        <p:spPr>
          <a:xfrm>
            <a:off x="661268" y="3390900"/>
            <a:ext cx="16636132" cy="6477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/>
              <a:t>Let’s see it in action</a:t>
            </a:r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Portrait of Gonçalo Jesus">
            <a:extLst>
              <a:ext uri="{FF2B5EF4-FFF2-40B4-BE49-F238E27FC236}">
                <a16:creationId xmlns:a16="http://schemas.microsoft.com/office/drawing/2014/main" id="{06A325E1-D263-43C7-4F83-07BE94DAB5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315"/>
          <a:stretch>
            <a:fillRect/>
          </a:stretch>
        </p:blipFill>
        <p:spPr bwMode="auto">
          <a:xfrm>
            <a:off x="6248400" y="7734695"/>
            <a:ext cx="1791955" cy="1791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2"/>
          <p:cNvGrpSpPr/>
          <p:nvPr/>
        </p:nvGrpSpPr>
        <p:grpSpPr>
          <a:xfrm>
            <a:off x="-1303343" y="7829550"/>
            <a:ext cx="4846643" cy="1791955"/>
            <a:chOff x="0" y="0"/>
            <a:chExt cx="6462190" cy="23892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4" name="Freeform 4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5" name="Freeform 5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6" name="Freeform 6"/>
          <p:cNvSpPr/>
          <p:nvPr/>
        </p:nvSpPr>
        <p:spPr>
          <a:xfrm>
            <a:off x="855170" y="5208278"/>
            <a:ext cx="1792350" cy="1792350"/>
          </a:xfrm>
          <a:custGeom>
            <a:avLst/>
            <a:gdLst/>
            <a:ahLst/>
            <a:cxnLst/>
            <a:rect l="l" t="t" r="r" b="b"/>
            <a:pathLst>
              <a:path w="1792350" h="1792350">
                <a:moveTo>
                  <a:pt x="0" y="0"/>
                </a:moveTo>
                <a:lnTo>
                  <a:pt x="1792350" y="0"/>
                </a:lnTo>
                <a:lnTo>
                  <a:pt x="1792350" y="1792350"/>
                </a:lnTo>
                <a:lnTo>
                  <a:pt x="0" y="17923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7" name="Freeform 7"/>
          <p:cNvSpPr/>
          <p:nvPr/>
        </p:nvSpPr>
        <p:spPr>
          <a:xfrm>
            <a:off x="908444" y="2587007"/>
            <a:ext cx="1792350" cy="1792350"/>
          </a:xfrm>
          <a:custGeom>
            <a:avLst/>
            <a:gdLst/>
            <a:ahLst/>
            <a:cxnLst/>
            <a:rect l="l" t="t" r="r" b="b"/>
            <a:pathLst>
              <a:path w="1792350" h="1792350">
                <a:moveTo>
                  <a:pt x="0" y="0"/>
                </a:moveTo>
                <a:lnTo>
                  <a:pt x="1792350" y="0"/>
                </a:lnTo>
                <a:lnTo>
                  <a:pt x="1792350" y="1792351"/>
                </a:lnTo>
                <a:lnTo>
                  <a:pt x="0" y="17923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8" name="TextBox 8"/>
          <p:cNvSpPr txBox="1"/>
          <p:nvPr/>
        </p:nvSpPr>
        <p:spPr>
          <a:xfrm>
            <a:off x="666750" y="657225"/>
            <a:ext cx="6886575" cy="1222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 spc="-240">
                <a:solidFill>
                  <a:srgbClr val="21C7E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Team 10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3008158" y="3108706"/>
            <a:ext cx="6886575" cy="1270652"/>
            <a:chOff x="0" y="0"/>
            <a:chExt cx="9182100" cy="1694202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38100"/>
              <a:ext cx="9182100" cy="9575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C5E9F6"/>
                  </a:solidFill>
                  <a:latin typeface="TT Fors"/>
                  <a:ea typeface="TT Fors"/>
                  <a:cs typeface="TT Fors"/>
                  <a:sym typeface="TT Fors"/>
                </a:rPr>
                <a:t>Arsénio Ferraz</a:t>
              </a:r>
            </a:p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C5E9F6"/>
                  </a:solidFill>
                  <a:latin typeface="TT Fors"/>
                  <a:ea typeface="TT Fors"/>
                  <a:cs typeface="TT Fors"/>
                  <a:sym typeface="TT Fors"/>
                </a:rPr>
                <a:t>Entrepreneur, Co-CEO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979827"/>
              <a:ext cx="9182100" cy="714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>
                  <a:solidFill>
                    <a:srgbClr val="1B9AAA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1010137@isep.ipp.pt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344400" y="5800725"/>
            <a:ext cx="4046674" cy="879282"/>
            <a:chOff x="0" y="-38100"/>
            <a:chExt cx="5395565" cy="1172376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38100"/>
              <a:ext cx="5395565" cy="4796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dirty="0">
                  <a:solidFill>
                    <a:srgbClr val="C5E9F6"/>
                  </a:solidFill>
                  <a:latin typeface="TT Fors"/>
                  <a:ea typeface="TT Fors"/>
                  <a:cs typeface="TT Fors"/>
                  <a:sym typeface="TT Fors"/>
                </a:rPr>
                <a:t>Mário João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484526"/>
              <a:ext cx="5395565" cy="649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dirty="0">
                  <a:solidFill>
                    <a:srgbClr val="1B9AAA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1221019@isep.ipp.pt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158114" y="3033594"/>
            <a:ext cx="6886575" cy="899177"/>
            <a:chOff x="0" y="0"/>
            <a:chExt cx="9182100" cy="1198902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38100"/>
              <a:ext cx="91821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C5E9F6"/>
                  </a:solidFill>
                  <a:latin typeface="TT Fors"/>
                  <a:ea typeface="TT Fors"/>
                  <a:cs typeface="TT Fors"/>
                  <a:sym typeface="TT Fors"/>
                </a:rPr>
                <a:t>César Vieira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484527"/>
              <a:ext cx="9182100" cy="714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dirty="0">
                  <a:solidFill>
                    <a:srgbClr val="1B9AAA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1241523@isep.ipp.pt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008158" y="5734288"/>
            <a:ext cx="4439426" cy="927752"/>
            <a:chOff x="-2389729" y="-363461"/>
            <a:chExt cx="5919235" cy="1237002"/>
          </a:xfrm>
        </p:grpSpPr>
        <p:sp>
          <p:nvSpPr>
            <p:cNvPr id="19" name="TextBox 19"/>
            <p:cNvSpPr txBox="1"/>
            <p:nvPr/>
          </p:nvSpPr>
          <p:spPr>
            <a:xfrm>
              <a:off x="-2389729" y="-363461"/>
              <a:ext cx="5919235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dirty="0">
                  <a:solidFill>
                    <a:srgbClr val="C5E9F6"/>
                  </a:solidFill>
                  <a:latin typeface="TT Fors"/>
                  <a:ea typeface="TT Fors"/>
                  <a:cs typeface="TT Fors"/>
                  <a:sym typeface="TT Fors"/>
                </a:rPr>
                <a:t>Rui Soares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-2389729" y="159165"/>
              <a:ext cx="5919235" cy="7143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>
                  <a:solidFill>
                    <a:srgbClr val="1B9AAA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1221283@isep.ipp.pt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10058400" y="2587007"/>
            <a:ext cx="1792350" cy="1792350"/>
          </a:xfrm>
          <a:custGeom>
            <a:avLst/>
            <a:gdLst/>
            <a:ahLst/>
            <a:cxnLst/>
            <a:rect l="l" t="t" r="r" b="b"/>
            <a:pathLst>
              <a:path w="1792350" h="1792350">
                <a:moveTo>
                  <a:pt x="0" y="0"/>
                </a:moveTo>
                <a:lnTo>
                  <a:pt x="1792350" y="0"/>
                </a:lnTo>
                <a:lnTo>
                  <a:pt x="1792350" y="1792350"/>
                </a:lnTo>
                <a:lnTo>
                  <a:pt x="0" y="17923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1823" b="-11823"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23" name="Group 12">
            <a:extLst>
              <a:ext uri="{FF2B5EF4-FFF2-40B4-BE49-F238E27FC236}">
                <a16:creationId xmlns:a16="http://schemas.microsoft.com/office/drawing/2014/main" id="{19DEC433-6419-3F03-3C7B-5265D509022E}"/>
              </a:ext>
            </a:extLst>
          </p:cNvPr>
          <p:cNvGrpSpPr/>
          <p:nvPr/>
        </p:nvGrpSpPr>
        <p:grpSpPr>
          <a:xfrm>
            <a:off x="8548105" y="8326747"/>
            <a:ext cx="4046674" cy="879282"/>
            <a:chOff x="0" y="-38100"/>
            <a:chExt cx="5395565" cy="1172376"/>
          </a:xfrm>
        </p:grpSpPr>
        <p:sp>
          <p:nvSpPr>
            <p:cNvPr id="24" name="TextBox 13">
              <a:extLst>
                <a:ext uri="{FF2B5EF4-FFF2-40B4-BE49-F238E27FC236}">
                  <a16:creationId xmlns:a16="http://schemas.microsoft.com/office/drawing/2014/main" id="{29277AD2-926B-7EFD-A3EF-29F4A57D293E}"/>
                </a:ext>
              </a:extLst>
            </p:cNvPr>
            <p:cNvSpPr txBox="1"/>
            <p:nvPr/>
          </p:nvSpPr>
          <p:spPr>
            <a:xfrm>
              <a:off x="0" y="-38100"/>
              <a:ext cx="5395565" cy="4796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dirty="0">
                  <a:solidFill>
                    <a:srgbClr val="C5E9F6"/>
                  </a:solidFill>
                  <a:latin typeface="TT Fors"/>
                  <a:ea typeface="TT Fors"/>
                  <a:cs typeface="TT Fors"/>
                  <a:sym typeface="TT Fors"/>
                </a:rPr>
                <a:t>Gonçalo Jesus</a:t>
              </a:r>
            </a:p>
          </p:txBody>
        </p:sp>
        <p:sp>
          <p:nvSpPr>
            <p:cNvPr id="25" name="TextBox 14">
              <a:extLst>
                <a:ext uri="{FF2B5EF4-FFF2-40B4-BE49-F238E27FC236}">
                  <a16:creationId xmlns:a16="http://schemas.microsoft.com/office/drawing/2014/main" id="{A83E6FA8-BDEA-9C16-43EE-45C8451F3051}"/>
                </a:ext>
              </a:extLst>
            </p:cNvPr>
            <p:cNvSpPr txBox="1"/>
            <p:nvPr/>
          </p:nvSpPr>
          <p:spPr>
            <a:xfrm>
              <a:off x="0" y="484526"/>
              <a:ext cx="5395565" cy="649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dirty="0">
                  <a:solidFill>
                    <a:srgbClr val="1B9AAA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1220822@isep.ipp.pt</a:t>
              </a:r>
            </a:p>
          </p:txBody>
        </p:sp>
      </p:grpSp>
      <p:pic>
        <p:nvPicPr>
          <p:cNvPr id="1026" name="Picture 2" descr="Portrait of Mário João">
            <a:extLst>
              <a:ext uri="{FF2B5EF4-FFF2-40B4-BE49-F238E27FC236}">
                <a16:creationId xmlns:a16="http://schemas.microsoft.com/office/drawing/2014/main" id="{4FC15C50-7201-5AA9-C564-65A81AFAC5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8268" y="5143500"/>
            <a:ext cx="1792350" cy="179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657225"/>
            <a:ext cx="6886575" cy="1222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 spc="-240">
                <a:solidFill>
                  <a:srgbClr val="21C7E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Team 10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1303343" y="7829550"/>
            <a:ext cx="4846643" cy="1791955"/>
            <a:chOff x="0" y="0"/>
            <a:chExt cx="6462190" cy="238927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5" name="Freeform 5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  <p:sp>
          <p:nvSpPr>
            <p:cNvPr id="6" name="Freeform 6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327212" y="3398683"/>
            <a:ext cx="8324850" cy="53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39"/>
              </a:lnSpc>
            </a:pPr>
            <a:r>
              <a:rPr lang="en-US" sz="3099" b="1">
                <a:solidFill>
                  <a:srgbClr val="C5E9F6"/>
                </a:solidFill>
                <a:latin typeface="TT Fors Bold"/>
                <a:ea typeface="TT Fors Bold"/>
                <a:cs typeface="TT Fors Bold"/>
                <a:sym typeface="TT Fors Bold"/>
              </a:rPr>
              <a:t>THANK YOU!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633813" y="8495030"/>
            <a:ext cx="8762920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C5E9F6"/>
                </a:solidFill>
                <a:latin typeface="TT Fors"/>
                <a:ea typeface="TT Fors"/>
                <a:cs typeface="TT Fors"/>
                <a:sym typeface="TT Fors"/>
              </a:rPr>
              <a:t>For more details, visit our blog at Phish-N-Chips25.github.io </a:t>
            </a:r>
          </a:p>
          <a:p>
            <a:pPr marL="0" lvl="0" indent="0" algn="l">
              <a:lnSpc>
                <a:spcPts val="3079"/>
              </a:lnSpc>
            </a:pPr>
            <a:r>
              <a:rPr lang="en-US" sz="2199">
                <a:solidFill>
                  <a:srgbClr val="C5E9F6"/>
                </a:solidFill>
                <a:latin typeface="TT Fors"/>
                <a:ea typeface="TT Fors"/>
                <a:cs typeface="TT Fors"/>
                <a:sym typeface="TT Fors"/>
              </a:rPr>
              <a:t>– there you will find demos, source code, and additional materials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615565" y="4336133"/>
            <a:ext cx="8324850" cy="70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i="1" dirty="0">
                <a:solidFill>
                  <a:srgbClr val="C5E9F6"/>
                </a:solidFill>
                <a:latin typeface="TT Fors Italics"/>
                <a:ea typeface="TT Fors Italics"/>
                <a:cs typeface="TT Fors Italics"/>
                <a:sym typeface="TT Fors Italics"/>
              </a:rPr>
              <a:t>“Reducing cyber risk through intelligent planning — beyond severity, beyond intuition.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551</Words>
  <Application>Microsoft Office PowerPoint</Application>
  <PresentationFormat>Custom</PresentationFormat>
  <Paragraphs>80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TT Fors</vt:lpstr>
      <vt:lpstr>TT Fors Bold</vt:lpstr>
      <vt:lpstr>TT Fors Italics</vt:lpstr>
      <vt:lpstr>Calibri</vt:lpstr>
      <vt:lpstr>ITC Avant Garde Gothic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10</dc:title>
  <cp:lastModifiedBy>Arsénio Ferraz | Torpedo.pt</cp:lastModifiedBy>
  <cp:revision>4</cp:revision>
  <dcterms:created xsi:type="dcterms:W3CDTF">2006-08-16T00:00:00Z</dcterms:created>
  <dcterms:modified xsi:type="dcterms:W3CDTF">2026-01-21T11:19:12Z</dcterms:modified>
  <dc:identifier>DAG3vq4kqDI</dc:identifier>
</cp:coreProperties>
</file>