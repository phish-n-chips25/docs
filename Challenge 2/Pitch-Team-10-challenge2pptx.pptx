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ITC Avant Garde Gothic" panose="020B0502020202020204" pitchFamily="34" charset="77"/>
      <p:regular r:id="rId9"/>
    </p:embeddedFont>
    <p:embeddedFont>
      <p:font typeface="TT Fors" panose="020B0003030001020000" pitchFamily="34" charset="0"/>
      <p:regular r:id="rId10"/>
    </p:embeddedFont>
    <p:embeddedFont>
      <p:font typeface="TT Fors Bold" panose="020B0003030001020000" pitchFamily="34" charset="0"/>
      <p:regular r:id="rId11"/>
      <p:bold r:id="rId12"/>
    </p:embeddedFont>
    <p:embeddedFont>
      <p:font typeface="TT Fors Italics" panose="020B0003030001020000" pitchFamily="34" charset="0"/>
      <p:regular r:id="rId13"/>
      <p: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9" autoAdjust="0"/>
  </p:normalViewPr>
  <p:slideViewPr>
    <p:cSldViewPr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68150" y="0"/>
            <a:ext cx="6419850" cy="10287000"/>
            <a:chOff x="0" y="0"/>
            <a:chExt cx="994603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4603" cy="1593725"/>
            </a:xfrm>
            <a:custGeom>
              <a:avLst/>
              <a:gdLst/>
              <a:ahLst/>
              <a:cxnLst/>
              <a:rect l="l" t="t" r="r" b="b"/>
              <a:pathLst>
                <a:path w="994603" h="1593725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126" b="-126"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444829" y="7829550"/>
            <a:ext cx="4846643" cy="1791955"/>
            <a:chOff x="0" y="0"/>
            <a:chExt cx="6462190" cy="238927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Freeform 6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7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3431472"/>
            <a:ext cx="4691341" cy="4888871"/>
          </a:xfrm>
          <a:custGeom>
            <a:avLst/>
            <a:gdLst/>
            <a:ahLst/>
            <a:cxnLst/>
            <a:rect l="l" t="t" r="r" b="b"/>
            <a:pathLst>
              <a:path w="4691341" h="4888871">
                <a:moveTo>
                  <a:pt x="0" y="0"/>
                </a:moveTo>
                <a:lnTo>
                  <a:pt x="4691341" y="0"/>
                </a:lnTo>
                <a:lnTo>
                  <a:pt x="4691341" y="4888871"/>
                </a:lnTo>
                <a:lnTo>
                  <a:pt x="0" y="48888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910" t="-8983" r="-8253" b="-9204"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9" name="Group 9"/>
          <p:cNvGrpSpPr/>
          <p:nvPr/>
        </p:nvGrpSpPr>
        <p:grpSpPr>
          <a:xfrm>
            <a:off x="666750" y="666750"/>
            <a:ext cx="9763125" cy="2416174"/>
            <a:chOff x="0" y="0"/>
            <a:chExt cx="13017500" cy="322156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84275"/>
              <a:ext cx="13017500" cy="2037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99"/>
                </a:lnSpc>
              </a:pPr>
              <a:r>
                <a:rPr lang="en-US" sz="9999" spc="-299">
                  <a:solidFill>
                    <a:srgbClr val="21C7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Phish'N'Chips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130175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1B9AA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TEAM 10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63474" y="9181465"/>
            <a:ext cx="7194651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60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Intelligent Threat Detection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5762625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21C7E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 Problem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96400" y="1562100"/>
            <a:ext cx="6886575" cy="3966210"/>
            <a:chOff x="0" y="0"/>
            <a:chExt cx="9182100" cy="5288280"/>
          </a:xfrm>
        </p:grpSpPr>
        <p:sp>
          <p:nvSpPr>
            <p:cNvPr id="4" name="TextBox 4"/>
            <p:cNvSpPr txBox="1"/>
            <p:nvPr/>
          </p:nvSpPr>
          <p:spPr>
            <a:xfrm>
              <a:off x="0" y="2349500"/>
              <a:ext cx="9182100" cy="29387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Phishing attacks are </a:t>
              </a:r>
              <a:r>
                <a:rPr lang="en-US" sz="2100" b="1" u="none" strike="noStrike">
                  <a:solidFill>
                    <a:srgbClr val="C5E9F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prevalent and devastating</a:t>
              </a:r>
              <a:r>
                <a:rPr lang="en-US" sz="2100" u="none" strike="noStrike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 in the cybersecurity landscape. Statistics show that up to 95% of data breaches involve phishing, with an average cost per breach of </a:t>
              </a:r>
              <a:r>
                <a:rPr lang="en-US" sz="2100" b="1" u="none" strike="noStrike">
                  <a:solidFill>
                    <a:srgbClr val="C5E9F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$4.88 million</a:t>
              </a:r>
              <a:r>
                <a:rPr lang="en-US" sz="2100" u="none" strike="noStrike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. Current tools for security analysts are lacking, leading to slow manual URL validation.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9182100" cy="136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1B9AA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Phishing: A Major Cybersecurity Threat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8" name="Freeform 8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9" name="Freeform 9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1201400" cy="4032858"/>
            <a:chOff x="0" y="0"/>
            <a:chExt cx="14935200" cy="5377144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49352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21C7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Market Potential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428964"/>
              <a:ext cx="11099800" cy="1948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The demand for </a:t>
              </a:r>
              <a:r>
                <a:rPr lang="en-US" sz="2100" b="1">
                  <a:solidFill>
                    <a:srgbClr val="C5E9F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automated phishing defense</a:t>
              </a:r>
              <a:r>
                <a:rPr lang="en-US" sz="210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 solutions is growing among SOC teams, cybersecurity analysts, and organizations. With the cybersecurity market projected to reach </a:t>
              </a:r>
              <a:r>
                <a:rPr lang="en-US" sz="2100" b="1">
                  <a:solidFill>
                    <a:srgbClr val="C5E9F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$345 billion</a:t>
              </a:r>
              <a:r>
                <a:rPr lang="en-US" sz="210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 by 2026, addressing this need is essential.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235200"/>
              <a:ext cx="130175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1B9AAA"/>
                  </a:solidFill>
                  <a:latin typeface="TT Fors"/>
                  <a:ea typeface="TT Fors"/>
                  <a:cs typeface="TT Fors"/>
                  <a:sym typeface="TT Fors"/>
                </a:rPr>
                <a:t>Phishing Defense Automation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8" name="Freeform 8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9" name="Freeform 9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5143500"/>
            <a:ext cx="4010025" cy="3731070"/>
            <a:chOff x="0" y="0"/>
            <a:chExt cx="5346700" cy="4974759"/>
          </a:xfrm>
        </p:grpSpPr>
        <p:sp>
          <p:nvSpPr>
            <p:cNvPr id="3" name="TextBox 3"/>
            <p:cNvSpPr txBox="1"/>
            <p:nvPr/>
          </p:nvSpPr>
          <p:spPr>
            <a:xfrm>
              <a:off x="0" y="1145201"/>
              <a:ext cx="5346700" cy="38295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6"/>
                </a:lnSpc>
              </a:pPr>
              <a:r>
                <a:rPr lang="en-US" sz="2047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The Drools Engine employs rule-based analysis to efficiently evaluate potential threats, utilizing an extensive library of security rules that adapt to emerging phishing tactics, enhancing detection accuracy and speed.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5346700" cy="615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48"/>
                </a:lnSpc>
                <a:spcBef>
                  <a:spcPct val="0"/>
                </a:spcBef>
              </a:pPr>
              <a:r>
                <a:rPr lang="en-US" sz="2535" u="none" strike="noStrike" spc="-76">
                  <a:solidFill>
                    <a:srgbClr val="C5E9F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Drools Engine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5143500"/>
            <a:ext cx="4010025" cy="4093020"/>
            <a:chOff x="0" y="0"/>
            <a:chExt cx="5346700" cy="5457359"/>
          </a:xfrm>
        </p:grpSpPr>
        <p:sp>
          <p:nvSpPr>
            <p:cNvPr id="6" name="TextBox 6"/>
            <p:cNvSpPr txBox="1"/>
            <p:nvPr/>
          </p:nvSpPr>
          <p:spPr>
            <a:xfrm>
              <a:off x="0" y="1145201"/>
              <a:ext cx="5346700" cy="4312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6"/>
                </a:lnSpc>
              </a:pPr>
              <a:r>
                <a:rPr lang="en-US" sz="2047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By leveraging Prolog for logical inference, our system can analyze complex relationships within data, enabling it to identify sophisticated phishing attempts that traditional methods often overlook, improving overall system intelligence.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5346700" cy="615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48"/>
                </a:lnSpc>
                <a:spcBef>
                  <a:spcPct val="0"/>
                </a:spcBef>
              </a:pPr>
              <a:r>
                <a:rPr lang="en-US" sz="2535" u="none" strike="noStrike" spc="-76">
                  <a:solidFill>
                    <a:srgbClr val="C5E9F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Prolog Integration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5143500"/>
            <a:ext cx="4010025" cy="3731070"/>
            <a:chOff x="0" y="0"/>
            <a:chExt cx="5346700" cy="4974759"/>
          </a:xfrm>
        </p:grpSpPr>
        <p:sp>
          <p:nvSpPr>
            <p:cNvPr id="9" name="TextBox 9"/>
            <p:cNvSpPr txBox="1"/>
            <p:nvPr/>
          </p:nvSpPr>
          <p:spPr>
            <a:xfrm>
              <a:off x="0" y="1145201"/>
              <a:ext cx="5346700" cy="38295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6"/>
                </a:lnSpc>
              </a:pPr>
              <a:r>
                <a:rPr lang="en-US" sz="2047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The user interface provides real-time threat visualization, allowing security analysts to monitor detected threats dynamically. This feature enhances situational awareness and facilitates rapid response to potential phishing attacks.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5346700" cy="615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48"/>
                </a:lnSpc>
                <a:spcBef>
                  <a:spcPct val="0"/>
                </a:spcBef>
              </a:pPr>
              <a:r>
                <a:rPr lang="en-US" sz="2535" u="none" strike="noStrike" spc="-76">
                  <a:solidFill>
                    <a:srgbClr val="C5E9F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User Interface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666750"/>
            <a:ext cx="11201400" cy="2162175"/>
            <a:chOff x="0" y="0"/>
            <a:chExt cx="14935200" cy="28829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149352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21C7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Our Solution Overview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235200"/>
              <a:ext cx="134239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</a:pPr>
              <a:r>
                <a:rPr lang="en-US" sz="3199" u="none" strike="noStrike" spc="-95">
                  <a:solidFill>
                    <a:srgbClr val="1B9AAA"/>
                  </a:solidFill>
                  <a:latin typeface="TT Fors"/>
                  <a:ea typeface="TT Fors"/>
                  <a:cs typeface="TT Fors"/>
                  <a:sym typeface="TT Fors"/>
                </a:rPr>
                <a:t>Intelligent Threat Detection System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430959" y="752281"/>
            <a:ext cx="2190291" cy="809819"/>
            <a:chOff x="0" y="0"/>
            <a:chExt cx="2920388" cy="10797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30959" y="752281"/>
            <a:ext cx="2190291" cy="809819"/>
            <a:chOff x="0" y="0"/>
            <a:chExt cx="2920388" cy="10797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6" name="Freeform 6"/>
          <p:cNvSpPr/>
          <p:nvPr/>
        </p:nvSpPr>
        <p:spPr>
          <a:xfrm>
            <a:off x="8899459" y="3364612"/>
            <a:ext cx="8721791" cy="6148863"/>
          </a:xfrm>
          <a:custGeom>
            <a:avLst/>
            <a:gdLst/>
            <a:ahLst/>
            <a:cxnLst/>
            <a:rect l="l" t="t" r="r" b="b"/>
            <a:pathLst>
              <a:path w="8721791" h="6148863">
                <a:moveTo>
                  <a:pt x="0" y="0"/>
                </a:moveTo>
                <a:lnTo>
                  <a:pt x="8721791" y="0"/>
                </a:lnTo>
                <a:lnTo>
                  <a:pt x="8721791" y="6148863"/>
                </a:lnTo>
                <a:lnTo>
                  <a:pt x="0" y="61488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Freeform 7"/>
          <p:cNvSpPr/>
          <p:nvPr/>
        </p:nvSpPr>
        <p:spPr>
          <a:xfrm>
            <a:off x="1028700" y="3364612"/>
            <a:ext cx="7093565" cy="6162535"/>
          </a:xfrm>
          <a:custGeom>
            <a:avLst/>
            <a:gdLst/>
            <a:ahLst/>
            <a:cxnLst/>
            <a:rect l="l" t="t" r="r" b="b"/>
            <a:pathLst>
              <a:path w="7093565" h="6162535">
                <a:moveTo>
                  <a:pt x="0" y="0"/>
                </a:moveTo>
                <a:lnTo>
                  <a:pt x="7093565" y="0"/>
                </a:lnTo>
                <a:lnTo>
                  <a:pt x="7093565" y="6162535"/>
                </a:lnTo>
                <a:lnTo>
                  <a:pt x="0" y="61625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8" name="Group 8"/>
          <p:cNvGrpSpPr/>
          <p:nvPr/>
        </p:nvGrpSpPr>
        <p:grpSpPr>
          <a:xfrm>
            <a:off x="666750" y="666750"/>
            <a:ext cx="11201400" cy="2162175"/>
            <a:chOff x="0" y="0"/>
            <a:chExt cx="14935200" cy="2882900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149352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21C7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Our Solution Overview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235200"/>
              <a:ext cx="134239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</a:pPr>
              <a:r>
                <a:rPr lang="en-US" sz="3199" u="none" strike="noStrike" spc="-95">
                  <a:solidFill>
                    <a:srgbClr val="1B9AAA"/>
                  </a:solidFill>
                  <a:latin typeface="TT Fors"/>
                  <a:ea typeface="TT Fors"/>
                  <a:cs typeface="TT Fors"/>
                  <a:sym typeface="TT Fors"/>
                </a:rPr>
                <a:t>Intelligent Threat Detection System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5" name="Freeform 5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6" name="Freeform 6"/>
          <p:cNvSpPr/>
          <p:nvPr/>
        </p:nvSpPr>
        <p:spPr>
          <a:xfrm>
            <a:off x="15659871" y="5507931"/>
            <a:ext cx="1792350" cy="1792350"/>
          </a:xfrm>
          <a:custGeom>
            <a:avLst/>
            <a:gdLst/>
            <a:ahLst/>
            <a:cxnLst/>
            <a:rect l="l" t="t" r="r" b="b"/>
            <a:pathLst>
              <a:path w="1792350" h="1792350">
                <a:moveTo>
                  <a:pt x="0" y="0"/>
                </a:moveTo>
                <a:lnTo>
                  <a:pt x="1792350" y="0"/>
                </a:lnTo>
                <a:lnTo>
                  <a:pt x="1792350" y="1792350"/>
                </a:lnTo>
                <a:lnTo>
                  <a:pt x="0" y="1792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Freeform 7"/>
          <p:cNvSpPr/>
          <p:nvPr/>
        </p:nvSpPr>
        <p:spPr>
          <a:xfrm>
            <a:off x="908444" y="2587007"/>
            <a:ext cx="1792350" cy="1792350"/>
          </a:xfrm>
          <a:custGeom>
            <a:avLst/>
            <a:gdLst/>
            <a:ahLst/>
            <a:cxnLst/>
            <a:rect l="l" t="t" r="r" b="b"/>
            <a:pathLst>
              <a:path w="1792350" h="1792350">
                <a:moveTo>
                  <a:pt x="0" y="0"/>
                </a:moveTo>
                <a:lnTo>
                  <a:pt x="1792350" y="0"/>
                </a:lnTo>
                <a:lnTo>
                  <a:pt x="1792350" y="1792351"/>
                </a:lnTo>
                <a:lnTo>
                  <a:pt x="0" y="17923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TextBox 8"/>
          <p:cNvSpPr txBox="1"/>
          <p:nvPr/>
        </p:nvSpPr>
        <p:spPr>
          <a:xfrm>
            <a:off x="666750" y="657225"/>
            <a:ext cx="6886575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21C7E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Team 10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008158" y="3108706"/>
            <a:ext cx="6886575" cy="1270652"/>
            <a:chOff x="0" y="0"/>
            <a:chExt cx="9182100" cy="1694202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38100"/>
              <a:ext cx="9182100" cy="9575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Arsénio Ferraz</a:t>
              </a:r>
            </a:p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Entrepreneur, Co-CEO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79827"/>
              <a:ext cx="91821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1B9AA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1010137@isep.ipp.pt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087726" y="3108706"/>
            <a:ext cx="4046674" cy="899177"/>
            <a:chOff x="0" y="0"/>
            <a:chExt cx="5395565" cy="1198902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38100"/>
              <a:ext cx="5395565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Bruno Camarneiro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484527"/>
              <a:ext cx="5395565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1B9AA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1250422@isep.ipp.pt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008158" y="5954518"/>
            <a:ext cx="6886575" cy="899177"/>
            <a:chOff x="0" y="0"/>
            <a:chExt cx="9182100" cy="1198902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38100"/>
              <a:ext cx="91821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César Vieira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484527"/>
              <a:ext cx="91821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1B9AA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1241523@isep.ipp.pt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087726" y="6075928"/>
            <a:ext cx="4439426" cy="899177"/>
            <a:chOff x="0" y="0"/>
            <a:chExt cx="5919235" cy="1198902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38100"/>
              <a:ext cx="5919235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Rui Soares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484527"/>
              <a:ext cx="5919235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1B9AA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1221283@isep.ipp.pt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15659871" y="2587007"/>
            <a:ext cx="1792350" cy="1792350"/>
          </a:xfrm>
          <a:custGeom>
            <a:avLst/>
            <a:gdLst/>
            <a:ahLst/>
            <a:cxnLst/>
            <a:rect l="l" t="t" r="r" b="b"/>
            <a:pathLst>
              <a:path w="1792350" h="1792350">
                <a:moveTo>
                  <a:pt x="0" y="0"/>
                </a:moveTo>
                <a:lnTo>
                  <a:pt x="1792350" y="0"/>
                </a:lnTo>
                <a:lnTo>
                  <a:pt x="1792350" y="1792351"/>
                </a:lnTo>
                <a:lnTo>
                  <a:pt x="0" y="17923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046" r="-25046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2" name="Freeform 22"/>
          <p:cNvSpPr/>
          <p:nvPr/>
        </p:nvSpPr>
        <p:spPr>
          <a:xfrm>
            <a:off x="908444" y="5507931"/>
            <a:ext cx="1792350" cy="1792350"/>
          </a:xfrm>
          <a:custGeom>
            <a:avLst/>
            <a:gdLst/>
            <a:ahLst/>
            <a:cxnLst/>
            <a:rect l="l" t="t" r="r" b="b"/>
            <a:pathLst>
              <a:path w="1792350" h="1792350">
                <a:moveTo>
                  <a:pt x="0" y="0"/>
                </a:moveTo>
                <a:lnTo>
                  <a:pt x="1792350" y="0"/>
                </a:lnTo>
                <a:lnTo>
                  <a:pt x="1792350" y="1792350"/>
                </a:lnTo>
                <a:lnTo>
                  <a:pt x="0" y="17923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1823" b="-11823"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6886575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21C7E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Team 10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5" name="Freeform 5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Freeform 6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327212" y="3398683"/>
            <a:ext cx="8324850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39"/>
              </a:lnSpc>
            </a:pPr>
            <a:r>
              <a:rPr lang="en-US" sz="3099" b="1">
                <a:solidFill>
                  <a:srgbClr val="C5E9F6"/>
                </a:solidFill>
                <a:latin typeface="TT Fors Bold"/>
                <a:ea typeface="TT Fors Bold"/>
                <a:cs typeface="TT Fors Bold"/>
                <a:sym typeface="TT Fors Bold"/>
              </a:rPr>
              <a:t>THANK YOU!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33813" y="8495030"/>
            <a:ext cx="8762920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For more details, visit our blog at Phish-N-Chips25.github.io </a:t>
            </a:r>
          </a:p>
          <a:p>
            <a:pPr marL="0" lvl="0" indent="0" algn="l">
              <a:lnSpc>
                <a:spcPts val="3079"/>
              </a:lnSpc>
            </a:pPr>
            <a:r>
              <a:rPr lang="en-US" sz="2199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– there you will find demos, source code, and additional materials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15565" y="4336133"/>
            <a:ext cx="832485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1">
                <a:solidFill>
                  <a:srgbClr val="C5E9F6"/>
                </a:solidFill>
                <a:latin typeface="TT Fors Italics"/>
                <a:ea typeface="TT Fors Italics"/>
                <a:cs typeface="TT Fors Italics"/>
                <a:sym typeface="TT Fors Italics"/>
              </a:rPr>
              <a:t>Protecting users through rule-based intelligence – Phish-n-Chips, your defense against phishing.</a:t>
            </a:r>
          </a:p>
          <a:p>
            <a:pPr marL="0" lvl="0" indent="0" algn="l">
              <a:lnSpc>
                <a:spcPts val="2800"/>
              </a:lnSpc>
            </a:pPr>
            <a:endParaRPr lang="en-US" sz="2000" i="1">
              <a:solidFill>
                <a:srgbClr val="C5E9F6"/>
              </a:solidFill>
              <a:latin typeface="TT Fors Italics"/>
              <a:ea typeface="TT Fors Italics"/>
              <a:cs typeface="TT Fors Italics"/>
              <a:sym typeface="TT Fors Itali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Microsoft Macintosh PowerPoint</Application>
  <PresentationFormat>Custom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TT Fors</vt:lpstr>
      <vt:lpstr>TT Fors Bold</vt:lpstr>
      <vt:lpstr>Calibri</vt:lpstr>
      <vt:lpstr>Arial</vt:lpstr>
      <vt:lpstr>ITC Avant Garde Gothic</vt:lpstr>
      <vt:lpstr>TT Fors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10</dc:title>
  <cp:lastModifiedBy>Arsénio Ferraz (1010137)</cp:lastModifiedBy>
  <cp:revision>1</cp:revision>
  <dcterms:created xsi:type="dcterms:W3CDTF">2006-08-16T00:00:00Z</dcterms:created>
  <dcterms:modified xsi:type="dcterms:W3CDTF">2026-01-21T10:20:09Z</dcterms:modified>
  <dc:identifier>DAG3vq4kqDI</dc:identifier>
</cp:coreProperties>
</file>